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5" r:id="rId7"/>
    <p:sldId id="264" r:id="rId8"/>
    <p:sldId id="267" r:id="rId9"/>
    <p:sldId id="269" r:id="rId10"/>
    <p:sldId id="270" r:id="rId11"/>
    <p:sldId id="272" r:id="rId12"/>
    <p:sldId id="27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Django + Next.js 電商購物網站專題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057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6E6E6E"/>
                </a:solidFill>
                <a:latin typeface="Microsoft JhengHei"/>
              </a:rPr>
              <a:t>以前後端分離、MySQL 正式資料庫、購物流程與後台管理為核心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2926080"/>
            <a:ext cx="4754880" cy="1143000"/>
          </a:xfrm>
          <a:prstGeom prst="roundRect">
            <a:avLst/>
          </a:prstGeom>
          <a:solidFill>
            <a:srgbClr val="2F3E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rgbClr val="FFFFFF"/>
                </a:solidFill>
                <a:latin typeface="Microsoft JhengHei"/>
              </a:rPr>
              <a:t>題目</a:t>
            </a:r>
            <a:r>
              <a:rPr sz="1800" b="1" dirty="0">
                <a:solidFill>
                  <a:srgbClr val="FFFFFF"/>
                </a:solidFill>
                <a:latin typeface="Microsoft JhengHei"/>
              </a:rPr>
              <a:t>：</a:t>
            </a:r>
            <a:r>
              <a:rPr lang="zh-TW" altLang="en-US" sz="1800" b="1" dirty="0">
                <a:solidFill>
                  <a:srgbClr val="FFFFFF"/>
                </a:solidFill>
                <a:latin typeface="Microsoft JhengHei"/>
              </a:rPr>
              <a:t>衣服電商網站</a:t>
            </a:r>
            <a:r>
              <a:rPr sz="1800" b="1" dirty="0">
                <a:solidFill>
                  <a:srgbClr val="FFFFFF"/>
                </a:solidFill>
                <a:latin typeface="Microsoft JhengHei"/>
              </a:rPr>
              <a:t>
</a:t>
            </a:r>
            <a:r>
              <a:rPr sz="1800" b="1" dirty="0" err="1">
                <a:solidFill>
                  <a:srgbClr val="FFFFFF"/>
                </a:solidFill>
                <a:latin typeface="Microsoft JhengHei"/>
              </a:rPr>
              <a:t>組員</a:t>
            </a:r>
            <a:r>
              <a:rPr sz="1800" b="1" dirty="0">
                <a:solidFill>
                  <a:srgbClr val="FFFFFF"/>
                </a:solidFill>
                <a:latin typeface="Microsoft JhengHei"/>
              </a:rPr>
              <a:t>：</a:t>
            </a:r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楊凱鈞</a:t>
            </a:r>
            <a:r>
              <a:rPr sz="1800" b="1" dirty="0">
                <a:solidFill>
                  <a:srgbClr val="FFFFFF"/>
                </a:solidFill>
                <a:latin typeface="Microsoft JhengHei"/>
              </a:rPr>
              <a:t> / </a:t>
            </a:r>
            <a:r>
              <a:rPr lang="en-US" altLang="zh-TW" sz="1800" b="1" dirty="0">
                <a:solidFill>
                  <a:srgbClr val="FFFFFF"/>
                </a:solidFill>
                <a:latin typeface="Microsoft JhengHei"/>
              </a:rPr>
              <a:t>17</a:t>
            </a:r>
            <a:endParaRPr sz="18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9509760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 err="1">
                <a:solidFill>
                  <a:srgbClr val="2E2E2E"/>
                </a:solidFill>
                <a:latin typeface="Microsoft JhengHei"/>
              </a:rPr>
              <a:t>動機與目的</a:t>
            </a:r>
            <a:endParaRPr sz="20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1000"/>
              </a:spcAft>
            </a:pPr>
            <a:r>
              <a:rPr sz="2000" dirty="0" err="1">
                <a:solidFill>
                  <a:srgbClr val="2E2E2E"/>
                </a:solidFill>
                <a:latin typeface="Microsoft JhengHei"/>
              </a:rPr>
              <a:t>系統架構</a:t>
            </a:r>
            <a:endParaRPr sz="20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1000"/>
              </a:spcAft>
            </a:pPr>
            <a:r>
              <a:rPr sz="2000" dirty="0" err="1">
                <a:solidFill>
                  <a:srgbClr val="2E2E2E"/>
                </a:solidFill>
                <a:latin typeface="Microsoft JhengHei"/>
              </a:rPr>
              <a:t>開發工具與所需材料</a:t>
            </a:r>
            <a:endParaRPr sz="20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1000"/>
              </a:spcAft>
            </a:pPr>
            <a:r>
              <a:rPr sz="2000" dirty="0" err="1">
                <a:solidFill>
                  <a:srgbClr val="2E2E2E"/>
                </a:solidFill>
                <a:latin typeface="Microsoft JhengHei"/>
              </a:rPr>
              <a:t>資料庫規劃</a:t>
            </a:r>
            <a:endParaRPr lang="en-US" sz="20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1000"/>
              </a:spcAft>
            </a:pPr>
            <a:r>
              <a:rPr lang="zh-TW" altLang="en-US" sz="20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資料庫資料表關聯圖</a:t>
            </a:r>
            <a:endParaRPr sz="2000" dirty="0">
              <a:solidFill>
                <a:srgbClr val="2E2E2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1000"/>
              </a:spcAft>
            </a:pPr>
            <a:r>
              <a:rPr sz="2000" dirty="0" err="1">
                <a:solidFill>
                  <a:srgbClr val="2E2E2E"/>
                </a:solidFill>
                <a:latin typeface="Microsoft JhengHei"/>
              </a:rPr>
              <a:t>流程圖</a:t>
            </a:r>
            <a:endParaRPr sz="20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1000"/>
              </a:spcAft>
            </a:pPr>
            <a:r>
              <a:rPr sz="2000" dirty="0" err="1">
                <a:solidFill>
                  <a:srgbClr val="2E2E2E"/>
                </a:solidFill>
                <a:latin typeface="Microsoft JhengHei"/>
              </a:rPr>
              <a:t>網站架構與實驗結果</a:t>
            </a:r>
            <a:endParaRPr sz="20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1000"/>
              </a:spcAft>
            </a:pPr>
            <a:r>
              <a:rPr sz="2000" dirty="0" err="1">
                <a:solidFill>
                  <a:srgbClr val="2E2E2E"/>
                </a:solidFill>
                <a:latin typeface="Microsoft JhengHei"/>
              </a:rPr>
              <a:t>未來方向</a:t>
            </a:r>
            <a:endParaRPr sz="20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1000"/>
              </a:spcAft>
            </a:pPr>
            <a:r>
              <a:rPr sz="2000" dirty="0" err="1">
                <a:solidFill>
                  <a:srgbClr val="2E2E2E"/>
                </a:solidFill>
                <a:latin typeface="Microsoft JhengHei"/>
              </a:rPr>
              <a:t>參考文獻</a:t>
            </a:r>
            <a:endParaRPr sz="2000" dirty="0">
              <a:solidFill>
                <a:srgbClr val="2E2E2E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動機與目的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4572000" cy="489204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7" y="1234440"/>
            <a:ext cx="1737360" cy="384048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專題動機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E2E2E"/>
                </a:solidFill>
                <a:latin typeface="Microsoft JhengHei"/>
              </a:rPr>
              <a:t>將課堂的網頁設計、資料庫與後端開發能力整合成完整作品。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E2E2E"/>
                </a:solidFill>
                <a:latin typeface="Microsoft JhengHei"/>
              </a:rPr>
              <a:t>不只展示單一頁面，而是完成含會員、商品、訂單與後台的網站。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E2E2E"/>
                </a:solidFill>
                <a:latin typeface="Microsoft JhengHei"/>
              </a:rPr>
              <a:t>把專案做成可以部署、可以同步資料、可以延伸維護的形式。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051560"/>
            <a:ext cx="4572000" cy="489204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07607" y="1234440"/>
            <a:ext cx="1737360" cy="384048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專題目的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1755648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E2E2E"/>
                </a:solidFill>
                <a:latin typeface="Microsoft JhengHei"/>
              </a:rPr>
              <a:t>建立前後端分離的電商平台架構。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E2E2E"/>
                </a:solidFill>
                <a:latin typeface="Microsoft JhengHei"/>
              </a:rPr>
              <a:t>以 MySQL 作為正式資料來源，完成資料同步與結構管理。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E2E2E"/>
                </a:solidFill>
                <a:latin typeface="Microsoft JhengHei"/>
              </a:rPr>
              <a:t>串接金流、物流、媒體儲存與管理後台，接近實務專案流程。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系統架構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234440"/>
            <a:ext cx="1920240" cy="566928"/>
          </a:xfrm>
          <a:prstGeom prst="roundRect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使用者端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234440"/>
            <a:ext cx="2377440" cy="566928"/>
          </a:xfrm>
          <a:prstGeom prst="roundRect">
            <a:avLst/>
          </a:prstGeom>
          <a:solidFill>
            <a:srgbClr val="2F3E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Next.js / React 前端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234440"/>
            <a:ext cx="2560320" cy="566928"/>
          </a:xfrm>
          <a:prstGeom prst="roundRect">
            <a:avLst/>
          </a:prstGeom>
          <a:solidFill>
            <a:srgbClr val="2F3E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Microsoft JhengHei"/>
              </a:rPr>
              <a:t>Django / DRF API</a:t>
            </a:r>
            <a:r>
              <a:rPr lang="zh-TW" altLang="en-US" sz="1700" b="1" dirty="0">
                <a:solidFill>
                  <a:srgbClr val="FFFFFF"/>
                </a:solidFill>
                <a:latin typeface="Microsoft JhengHei"/>
              </a:rPr>
              <a:t>後端</a:t>
            </a:r>
            <a:endParaRPr sz="17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41080" y="1234440"/>
            <a:ext cx="1920240" cy="566928"/>
          </a:xfrm>
          <a:prstGeom prst="roundRect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Microsoft JhengHei"/>
              </a:rPr>
              <a:t>MySQL / Aiven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1517904"/>
            <a:ext cx="13716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23560" y="1517904"/>
            <a:ext cx="22860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12480" y="1517904"/>
            <a:ext cx="22860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34440" y="2011680"/>
            <a:ext cx="2743200" cy="356616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74520" y="2176272"/>
            <a:ext cx="1280160" cy="365760"/>
          </a:xfrm>
          <a:prstGeom prst="roundRect">
            <a:avLst/>
          </a:prstGeom>
          <a:solidFill>
            <a:srgbClr val="DBE1F2"/>
          </a:solidFill>
          <a:ln>
            <a:solidFill>
              <a:srgbClr val="DB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 err="1">
                <a:solidFill>
                  <a:srgbClr val="2F3E6B"/>
                </a:solidFill>
                <a:latin typeface="Microsoft JhengHei"/>
              </a:rPr>
              <a:t>頁面模組</a:t>
            </a:r>
            <a:endParaRPr sz="1400" b="1" dirty="0">
              <a:solidFill>
                <a:srgbClr val="2F3E6B"/>
              </a:solidFill>
              <a:latin typeface="Microsoft Jheng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20240" y="2697480"/>
            <a:ext cx="2240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首頁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商品列表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購物車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會員中心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賣家中心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後台管理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43400" y="2011680"/>
            <a:ext cx="2743200" cy="356616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10475" y="2176272"/>
            <a:ext cx="1280160" cy="365760"/>
          </a:xfrm>
          <a:prstGeom prst="roundRect">
            <a:avLst/>
          </a:prstGeom>
          <a:solidFill>
            <a:srgbClr val="DBE1F2"/>
          </a:solidFill>
          <a:ln>
            <a:solidFill>
              <a:srgbClr val="DB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3E6B"/>
                </a:solidFill>
                <a:latin typeface="Microsoft JhengHei"/>
              </a:rPr>
              <a:t>後端服務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195" y="2697480"/>
            <a:ext cx="1005403" cy="20185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1600" dirty="0">
                <a:solidFill>
                  <a:srgbClr val="2E2E2E"/>
                </a:solidFill>
                <a:latin typeface="Microsoft JhengHei"/>
              </a:rPr>
              <a:t>會員管理</a:t>
            </a:r>
            <a:endParaRPr lang="en-US" altLang="zh-TW"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商品管理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訂單流程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金流物流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社群內容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lang="zh-TW" altLang="en-US" sz="1600" dirty="0">
                <a:solidFill>
                  <a:srgbClr val="2E2E2E"/>
                </a:solidFill>
                <a:latin typeface="Microsoft JhengHei"/>
              </a:rPr>
              <a:t>媒體管理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43800" y="2011680"/>
            <a:ext cx="2743200" cy="356616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02168" y="2176272"/>
            <a:ext cx="1280160" cy="365760"/>
          </a:xfrm>
          <a:prstGeom prst="roundRect">
            <a:avLst/>
          </a:prstGeom>
          <a:solidFill>
            <a:srgbClr val="DBE1F2"/>
          </a:solidFill>
          <a:ln>
            <a:solidFill>
              <a:srgbClr val="DB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 err="1">
                <a:solidFill>
                  <a:srgbClr val="2F3E6B"/>
                </a:solidFill>
                <a:latin typeface="Microsoft JhengHei"/>
              </a:rPr>
              <a:t>外部服務</a:t>
            </a:r>
            <a:endParaRPr sz="1400" b="1" dirty="0">
              <a:solidFill>
                <a:srgbClr val="2F3E6B"/>
              </a:solidFill>
              <a:latin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65008" y="2697480"/>
            <a:ext cx="1901952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dirty="0">
                <a:solidFill>
                  <a:srgbClr val="2E2E2E"/>
                </a:solidFill>
                <a:latin typeface="Microsoft JhengHei"/>
              </a:rPr>
              <a:t>Render </a:t>
            </a:r>
            <a:r>
              <a:rPr sz="1600" dirty="0" err="1">
                <a:solidFill>
                  <a:srgbClr val="2E2E2E"/>
                </a:solidFill>
                <a:latin typeface="Microsoft JhengHei"/>
              </a:rPr>
              <a:t>部署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>
                <a:solidFill>
                  <a:srgbClr val="2E2E2E"/>
                </a:solidFill>
                <a:latin typeface="Microsoft JhengHei"/>
              </a:rPr>
              <a:t>Google Cloud Storage</a:t>
            </a:r>
          </a:p>
          <a:p>
            <a:pPr>
              <a:spcAft>
                <a:spcPts val="700"/>
              </a:spcAft>
            </a:pPr>
            <a:r>
              <a:rPr sz="1600" dirty="0" err="1">
                <a:solidFill>
                  <a:srgbClr val="2E2E2E"/>
                </a:solidFill>
                <a:latin typeface="Microsoft JhengHei"/>
              </a:rPr>
              <a:t>NewebPay</a:t>
            </a:r>
            <a:r>
              <a:rPr sz="1600" dirty="0">
                <a:solidFill>
                  <a:srgbClr val="2E2E2E"/>
                </a:solidFill>
                <a:latin typeface="Microsoft JhengHei"/>
              </a:rPr>
              <a:t> </a:t>
            </a:r>
            <a:r>
              <a:rPr sz="1600" dirty="0" err="1">
                <a:solidFill>
                  <a:srgbClr val="2E2E2E"/>
                </a:solidFill>
                <a:latin typeface="Microsoft JhengHei"/>
              </a:rPr>
              <a:t>金流</a:t>
            </a:r>
            <a:endParaRPr sz="16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700"/>
              </a:spcAft>
            </a:pPr>
            <a:r>
              <a:rPr sz="1600" dirty="0">
                <a:solidFill>
                  <a:srgbClr val="2E2E2E"/>
                </a:solidFill>
                <a:latin typeface="Microsoft JhengHei"/>
              </a:rPr>
              <a:t>Aiven 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開發工具與所需材料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4572000" cy="489204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7" y="1234440"/>
            <a:ext cx="1737360" cy="384048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後端 / 基礎設施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402336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>
                <a:solidFill>
                  <a:srgbClr val="2E2E2E"/>
                </a:solidFill>
                <a:latin typeface="Microsoft JhengHei"/>
              </a:rPr>
              <a:t>Python 3 + Django 6 + Django REST Framework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E2E2E"/>
                </a:solidFill>
                <a:latin typeface="Microsoft JhengHei"/>
              </a:rPr>
              <a:t>MySQL / Aiven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雲端資料庫</a:t>
            </a:r>
            <a:endParaRPr sz="18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E2E2E"/>
                </a:solidFill>
                <a:latin typeface="Microsoft JhengHei"/>
              </a:rPr>
              <a:t>Render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部署</a:t>
            </a:r>
            <a:endParaRPr sz="18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E2E2E"/>
                </a:solidFill>
                <a:latin typeface="Microsoft JhengHei"/>
              </a:rPr>
              <a:t>Google Cloud Storage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媒體儲存</a:t>
            </a:r>
            <a:endParaRPr sz="18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800"/>
              </a:spcAft>
            </a:pPr>
            <a:r>
              <a:rPr sz="1800" dirty="0" err="1">
                <a:solidFill>
                  <a:srgbClr val="2E2E2E"/>
                </a:solidFill>
                <a:latin typeface="Microsoft JhengHei"/>
              </a:rPr>
              <a:t>NewebPay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金流</a:t>
            </a:r>
            <a:r>
              <a:rPr lang="en-US" sz="1800" dirty="0">
                <a:solidFill>
                  <a:srgbClr val="2E2E2E"/>
                </a:solidFill>
                <a:latin typeface="Microsoft JhengHei"/>
              </a:rPr>
              <a:t>/</a:t>
            </a:r>
            <a:r>
              <a:rPr lang="zh-TW" altLang="en-US" sz="1800" dirty="0">
                <a:solidFill>
                  <a:srgbClr val="2E2E2E"/>
                </a:solidFill>
                <a:latin typeface="Microsoft JhengHei"/>
              </a:rPr>
              <a:t>物流</a:t>
            </a:r>
            <a:endParaRPr sz="1800" dirty="0">
              <a:solidFill>
                <a:srgbClr val="2E2E2E"/>
              </a:solidFill>
              <a:latin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06440" y="1051560"/>
            <a:ext cx="4572000" cy="489204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07607" y="1234440"/>
            <a:ext cx="1737360" cy="384048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前端 / 開發工具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1755648"/>
            <a:ext cx="402336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>
                <a:solidFill>
                  <a:srgbClr val="2E2E2E"/>
                </a:solidFill>
                <a:latin typeface="Microsoft JhengHei"/>
              </a:rPr>
              <a:t>Next.js 15 + React 19 + TypeScript 5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E2E2E"/>
                </a:solidFill>
                <a:latin typeface="Microsoft JhengHei"/>
              </a:rPr>
              <a:t>VS Code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E2E2E"/>
                </a:solidFill>
                <a:latin typeface="Microsoft JhengHei"/>
              </a:rPr>
              <a:t>Git / GitHub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E2E2E"/>
                </a:solidFill>
                <a:latin typeface="Microsoft JhengHei"/>
              </a:rPr>
              <a:t>Mermaid /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結構化文件整理網站架構</a:t>
            </a:r>
            <a:endParaRPr sz="1800" dirty="0">
              <a:solidFill>
                <a:srgbClr val="2E2E2E"/>
              </a:solidFill>
              <a:latin typeface="Microsoft Jheng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資料庫規劃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2743200" cy="173736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325880"/>
            <a:ext cx="1234440" cy="329184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會員資料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users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user_addresses</a:t>
            </a:r>
            <a:endParaRPr sz="1200" dirty="0">
              <a:solidFill>
                <a:srgbClr val="2E2E2E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user_invoice_profiles</a:t>
            </a:r>
            <a:endParaRPr sz="1200" dirty="0">
              <a:solidFill>
                <a:srgbClr val="2E2E2E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user_shipping_rules</a:t>
            </a:r>
            <a:endParaRPr sz="1200" dirty="0">
              <a:solidFill>
                <a:srgbClr val="2E2E2E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seller_requests</a:t>
            </a:r>
            <a:endParaRPr sz="1200" dirty="0">
              <a:solidFill>
                <a:srgbClr val="2E2E2E"/>
              </a:solidFill>
              <a:latin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840480" y="1188720"/>
            <a:ext cx="2743200" cy="201168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05072" y="1325880"/>
            <a:ext cx="1234440" cy="329184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商品資料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products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brands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categories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product_images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product_variants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tags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188720"/>
            <a:ext cx="2743200" cy="201168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96912" y="1325880"/>
            <a:ext cx="1234440" cy="329184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交易資料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carts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cart_items</a:t>
            </a:r>
            <a:endParaRPr sz="1200" dirty="0">
              <a:solidFill>
                <a:srgbClr val="2E2E2E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orders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order_items</a:t>
            </a:r>
            <a:endParaRPr sz="1200" dirty="0">
              <a:solidFill>
                <a:srgbClr val="2E2E2E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payment_transactions</a:t>
            </a:r>
            <a:endParaRPr sz="1200" dirty="0">
              <a:solidFill>
                <a:srgbClr val="2E2E2E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shipment_events</a:t>
            </a:r>
            <a:endParaRPr sz="1200" dirty="0">
              <a:solidFill>
                <a:srgbClr val="2E2E2E"/>
              </a:solidFill>
              <a:latin typeface="Consola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240280" y="3657600"/>
            <a:ext cx="2743200" cy="201168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04872" y="3794760"/>
            <a:ext cx="1234440" cy="329184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內容資料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420624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product_reviews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product_questions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community_posts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community_replies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banners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E2E2E"/>
                </a:solidFill>
                <a:latin typeface="Consolas"/>
              </a:rPr>
              <a:t>• media_assets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9552" y="3657600"/>
            <a:ext cx="2743200" cy="187452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96712" y="3794760"/>
            <a:ext cx="1234440" cy="329184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營運資料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6712" y="420624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admin_audit_logs</a:t>
            </a:r>
            <a:endParaRPr sz="1200" dirty="0">
              <a:solidFill>
                <a:srgbClr val="2E2E2E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payment_callback_logs</a:t>
            </a:r>
            <a:endParaRPr sz="1200" dirty="0">
              <a:solidFill>
                <a:srgbClr val="2E2E2E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recent_views</a:t>
            </a:r>
            <a:endParaRPr sz="1200" dirty="0">
              <a:solidFill>
                <a:srgbClr val="2E2E2E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</a:t>
            </a:r>
            <a:r>
              <a:rPr sz="1200" dirty="0" err="1">
                <a:solidFill>
                  <a:srgbClr val="2E2E2E"/>
                </a:solidFill>
                <a:latin typeface="Consolas"/>
              </a:rPr>
              <a:t>compare_items</a:t>
            </a:r>
            <a:endParaRPr sz="1200" dirty="0">
              <a:solidFill>
                <a:srgbClr val="2E2E2E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2E2E"/>
                </a:solidFill>
                <a:latin typeface="Consolas"/>
              </a:rPr>
              <a:t>• favorites /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26831" y="180201"/>
            <a:ext cx="3647152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 dirty="0" err="1">
                <a:solidFill>
                  <a:srgbClr val="2F3E6B"/>
                </a:solidFill>
                <a:latin typeface="Microsoft JhengHei"/>
              </a:rPr>
              <a:t>資料庫</a:t>
            </a:r>
            <a:r>
              <a:rPr lang="zh-TW" altLang="en-US" sz="3000" b="1" dirty="0">
                <a:solidFill>
                  <a:srgbClr val="2F3E6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資料表關聯圖</a:t>
            </a:r>
            <a:endParaRPr sz="3000" b="1" dirty="0">
              <a:solidFill>
                <a:srgbClr val="2F3E6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9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DF8B385-1DD4-D61E-6362-42E25ADD0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30" y="853798"/>
            <a:ext cx="4831170" cy="539496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97815FA-8B8E-5E64-6069-2D28C7708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853798"/>
            <a:ext cx="4940718" cy="54209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使用者購物流程</a:t>
            </a:r>
          </a:p>
        </p:txBody>
      </p:sp>
      <p:sp>
        <p:nvSpPr>
          <p:cNvPr id="5" name="Terminator 4"/>
          <p:cNvSpPr/>
          <p:nvPr/>
        </p:nvSpPr>
        <p:spPr>
          <a:xfrm>
            <a:off x="731520" y="2103120"/>
            <a:ext cx="1280160" cy="566928"/>
          </a:xfrm>
          <a:prstGeom prst="flowChartTerminator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進入首頁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2103120"/>
            <a:ext cx="1325880" cy="566928"/>
          </a:xfrm>
          <a:prstGeom prst="roundRect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瀏覽商品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2103120"/>
            <a:ext cx="1325880" cy="566928"/>
          </a:xfrm>
          <a:prstGeom prst="roundRect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查看詳情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2103120"/>
            <a:ext cx="1417320" cy="566928"/>
          </a:xfrm>
          <a:prstGeom prst="roundRect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加入購物車</a:t>
            </a:r>
          </a:p>
        </p:txBody>
      </p:sp>
      <p:sp>
        <p:nvSpPr>
          <p:cNvPr id="9" name="Diamond 8"/>
          <p:cNvSpPr/>
          <p:nvPr/>
        </p:nvSpPr>
        <p:spPr>
          <a:xfrm>
            <a:off x="7040880" y="2057400"/>
            <a:ext cx="1234440" cy="658368"/>
          </a:xfrm>
          <a:prstGeom prst="diamond">
            <a:avLst/>
          </a:prstGeom>
          <a:solidFill>
            <a:srgbClr val="DBE1F2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3E6B"/>
                </a:solidFill>
                <a:latin typeface="Microsoft JhengHei"/>
              </a:rPr>
              <a:t>會員登入?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3390" y="4096511"/>
            <a:ext cx="1234440" cy="566928"/>
          </a:xfrm>
          <a:prstGeom prst="roundRect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Microsoft JhengHei"/>
              </a:rPr>
              <a:t>前往結帳</a:t>
            </a:r>
            <a:endParaRPr sz="15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572500" y="2080260"/>
            <a:ext cx="1417320" cy="566928"/>
          </a:xfrm>
          <a:prstGeom prst="roundRect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建立訂單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4069080"/>
            <a:ext cx="1417320" cy="566928"/>
          </a:xfrm>
          <a:prstGeom prst="roundRect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金流 / 物流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1" y="4096512"/>
            <a:ext cx="1325880" cy="566928"/>
          </a:xfrm>
          <a:prstGeom prst="roundRect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訂單查詢</a:t>
            </a:r>
          </a:p>
        </p:txBody>
      </p:sp>
      <p:sp>
        <p:nvSpPr>
          <p:cNvPr id="14" name="Terminator 13"/>
          <p:cNvSpPr/>
          <p:nvPr/>
        </p:nvSpPr>
        <p:spPr>
          <a:xfrm>
            <a:off x="7749540" y="4096512"/>
            <a:ext cx="914400" cy="566928"/>
          </a:xfrm>
          <a:prstGeom prst="flowChartTerminator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72299" y="4928617"/>
            <a:ext cx="1508760" cy="566928"/>
          </a:xfrm>
          <a:prstGeom prst="roundRect">
            <a:avLst/>
          </a:prstGeom>
          <a:solidFill>
            <a:srgbClr val="6675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導向登入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11680" y="2386584"/>
            <a:ext cx="22860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6160" y="2386584"/>
            <a:ext cx="22860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2386584"/>
            <a:ext cx="22860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66560" y="2386584"/>
            <a:ext cx="27432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75320" y="2386584"/>
            <a:ext cx="27432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52460" y="211226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F2541"/>
                </a:solidFill>
                <a:latin typeface="Microsoft JhengHei"/>
              </a:rPr>
              <a:t>是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 flipH="1">
            <a:off x="4892040" y="2697480"/>
            <a:ext cx="4389120" cy="1399032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14" idx="3"/>
            <a:endCxn id="13" idx="1"/>
          </p:cNvCxnSpPr>
          <p:nvPr/>
        </p:nvCxnSpPr>
        <p:spPr>
          <a:xfrm>
            <a:off x="8663940" y="4379976"/>
            <a:ext cx="754381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0" y="4352544"/>
            <a:ext cx="411479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86400" y="4352544"/>
            <a:ext cx="41148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</p:cNvCxnSpPr>
          <p:nvPr/>
        </p:nvCxnSpPr>
        <p:spPr>
          <a:xfrm flipH="1">
            <a:off x="7589520" y="2702052"/>
            <a:ext cx="27430" cy="2226565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397" y="320954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AF2541"/>
                </a:solidFill>
                <a:latin typeface="Microsoft JhengHei"/>
              </a:rPr>
              <a:t>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35240" y="5166360"/>
            <a:ext cx="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35240" y="5166360"/>
            <a:ext cx="0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17535" y="5495545"/>
            <a:ext cx="0" cy="219456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</p:cNvCxnSpPr>
          <p:nvPr/>
        </p:nvCxnSpPr>
        <p:spPr>
          <a:xfrm flipH="1">
            <a:off x="7726679" y="5715001"/>
            <a:ext cx="1554481" cy="0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cxnSpLocks/>
          </p:cNvCxnSpPr>
          <p:nvPr/>
        </p:nvCxnSpPr>
        <p:spPr>
          <a:xfrm flipV="1">
            <a:off x="9281160" y="2702052"/>
            <a:ext cx="0" cy="3012949"/>
          </a:xfrm>
          <a:prstGeom prst="line">
            <a:avLst/>
          </a:prstGeom>
          <a:ln w="25400">
            <a:solidFill>
              <a:srgbClr val="B0B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8680" y="109728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E2E2E"/>
                </a:solidFill>
                <a:latin typeface="Microsoft JhengHei"/>
              </a:rPr>
              <a:t>主流程涵蓋商品瀏覽、會員驗證、訂單建立與金流物流串接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網站架構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331720" cy="1673352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08176"/>
            <a:ext cx="1234440" cy="320040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會員驗證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207568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登入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註冊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忘記密碼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重設密碼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80160"/>
            <a:ext cx="2331720" cy="192024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83279" y="1408176"/>
            <a:ext cx="1234440" cy="320040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商品瀏覽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810512"/>
            <a:ext cx="2075687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商品列表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商品詳情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lang="zh-TW" altLang="en-US" sz="1400" dirty="0">
                <a:solidFill>
                  <a:srgbClr val="2E2E2E"/>
                </a:solidFill>
                <a:latin typeface="Microsoft JhengHei"/>
              </a:rPr>
              <a:t>商品搜尋</a:t>
            </a:r>
          </a:p>
          <a:p>
            <a:pPr>
              <a:spcAft>
                <a:spcPts val="400"/>
              </a:spcAft>
            </a:pPr>
            <a:r>
              <a:rPr lang="en-US" altLang="zh-TW" sz="1400" dirty="0">
                <a:solidFill>
                  <a:srgbClr val="2E2E2E"/>
                </a:solidFill>
                <a:latin typeface="Microsoft JhengHei"/>
              </a:rPr>
              <a:t>•</a:t>
            </a:r>
            <a:r>
              <a:rPr lang="zh-TW" altLang="en-US" sz="1400" dirty="0">
                <a:solidFill>
                  <a:srgbClr val="2E2E2E"/>
                </a:solidFill>
                <a:latin typeface="Microsoft JhengHei"/>
              </a:rPr>
              <a:t> 商品收藏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商品比較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89320" y="1280160"/>
            <a:ext cx="2331720" cy="1673352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0" y="1408176"/>
            <a:ext cx="1234440" cy="320040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購物流程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810512"/>
            <a:ext cx="207568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購物車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結帳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訂單列表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訂單詳情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280159"/>
            <a:ext cx="2331720" cy="1947671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69680" y="1408176"/>
            <a:ext cx="1234440" cy="320040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會員中心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1810512"/>
            <a:ext cx="207568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儀表板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個人資料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地址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發票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874519" y="3657600"/>
            <a:ext cx="2514600" cy="1920238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011679" y="3785615"/>
            <a:ext cx="1234440" cy="320040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賣家中心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2" y="4187952"/>
            <a:ext cx="22585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商品</a:t>
            </a:r>
            <a:r>
              <a:rPr lang="zh-TW" altLang="en-US" sz="1400" dirty="0">
                <a:solidFill>
                  <a:srgbClr val="2E2E2E"/>
                </a:solidFill>
                <a:latin typeface="Microsoft JhengHei"/>
              </a:rPr>
              <a:t>管理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物流規則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銷售訂單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報表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00600" y="3657600"/>
            <a:ext cx="2514600" cy="160020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937760" y="3785615"/>
            <a:ext cx="1234440" cy="320040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社群論壇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4187952"/>
            <a:ext cx="22585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文章列表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文章詳情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E2E2E"/>
                </a:solidFill>
                <a:latin typeface="Microsoft JhengHei"/>
              </a:rPr>
              <a:t>• 留言互動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657599"/>
            <a:ext cx="2514600" cy="1947671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35240" y="3785615"/>
            <a:ext cx="1234440" cy="320040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管理後台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4187952"/>
            <a:ext cx="2258568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後台儀表板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商品</a:t>
            </a:r>
            <a:r>
              <a:rPr lang="zh-TW" altLang="en-US" sz="1400" dirty="0">
                <a:solidFill>
                  <a:srgbClr val="2E2E2E"/>
                </a:solidFill>
                <a:latin typeface="Microsoft JhengHei"/>
              </a:rPr>
              <a:t>總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管理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訂單</a:t>
            </a:r>
            <a:r>
              <a:rPr lang="zh-TW" altLang="en-US" sz="1400" dirty="0">
                <a:solidFill>
                  <a:srgbClr val="2E2E2E"/>
                </a:solidFill>
                <a:latin typeface="Microsoft JhengHei"/>
              </a:rPr>
              <a:t>總管理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</a:t>
            </a:r>
            <a:r>
              <a:rPr lang="zh-TW" altLang="en-US" sz="1400" dirty="0">
                <a:solidFill>
                  <a:srgbClr val="2E2E2E"/>
                </a:solidFill>
                <a:latin typeface="Microsoft JhengHei"/>
              </a:rPr>
              <a:t>會員總</a:t>
            </a:r>
            <a:r>
              <a:rPr sz="1400" dirty="0" err="1">
                <a:solidFill>
                  <a:srgbClr val="2E2E2E"/>
                </a:solidFill>
                <a:latin typeface="Microsoft JhengHei"/>
              </a:rPr>
              <a:t>管理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E2E2E"/>
                </a:solidFill>
                <a:latin typeface="Microsoft JhengHei"/>
              </a:rPr>
              <a:t>• Banner</a:t>
            </a:r>
            <a:r>
              <a:rPr lang="zh-TW" altLang="en-US" sz="1400" dirty="0">
                <a:solidFill>
                  <a:srgbClr val="2E2E2E"/>
                </a:solidFill>
                <a:latin typeface="Microsoft JhengHei"/>
              </a:rPr>
              <a:t>管理</a:t>
            </a:r>
            <a:endParaRPr sz="1400" dirty="0">
              <a:solidFill>
                <a:srgbClr val="2E2E2E"/>
              </a:solidFill>
              <a:latin typeface="Microsoft Jheng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實驗結果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4754880" cy="3008376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7" y="1353312"/>
            <a:ext cx="427939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 err="1">
                <a:solidFill>
                  <a:srgbClr val="2E2E2E"/>
                </a:solidFill>
                <a:latin typeface="Microsoft JhengHei"/>
              </a:rPr>
              <a:t>前端已完成商品、會員、購物車、結帳、訂單、社群與後台頁面分流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1800" dirty="0" err="1">
                <a:solidFill>
                  <a:srgbClr val="2E2E2E"/>
                </a:solidFill>
                <a:latin typeface="Microsoft JhengHei"/>
              </a:rPr>
              <a:t>後端以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 Django ORM + MySQL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管理正式資料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1800" dirty="0" err="1">
                <a:solidFill>
                  <a:srgbClr val="2E2E2E"/>
                </a:solidFill>
                <a:latin typeface="Microsoft JhengHei"/>
              </a:rPr>
              <a:t>已串接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 Google Cloud Storage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儲存媒體檔案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1800" dirty="0" err="1">
                <a:solidFill>
                  <a:srgbClr val="2E2E2E"/>
                </a:solidFill>
                <a:latin typeface="Microsoft JhengHei"/>
              </a:rPr>
              <a:t>已整合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 Render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部署設定與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NewebPay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金流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 / </a:t>
            </a:r>
            <a:r>
              <a:rPr sz="1800" dirty="0" err="1">
                <a:solidFill>
                  <a:srgbClr val="2E2E2E"/>
                </a:solidFill>
                <a:latin typeface="Microsoft JhengHei"/>
              </a:rPr>
              <a:t>物流流程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143000"/>
            <a:ext cx="4572000" cy="251460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06440" y="1371600"/>
            <a:ext cx="1143000" cy="320040"/>
          </a:xfrm>
          <a:prstGeom prst="roundRect">
            <a:avLst/>
          </a:prstGeom>
          <a:solidFill>
            <a:srgbClr val="DBE1F2"/>
          </a:solidFill>
          <a:ln>
            <a:solidFill>
              <a:srgbClr val="DB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F3E6B"/>
                </a:solidFill>
                <a:latin typeface="Microsoft JhengHei"/>
              </a:rPr>
              <a:t>同步狀態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353312"/>
            <a:ext cx="2697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E2E2E"/>
                </a:solidFill>
                <a:latin typeface="Microsoft JhengHei"/>
              </a:rPr>
              <a:t>本地資料庫已與 Aiven 匯出資料同步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883664"/>
            <a:ext cx="1143000" cy="320040"/>
          </a:xfrm>
          <a:prstGeom prst="roundRect">
            <a:avLst/>
          </a:prstGeom>
          <a:solidFill>
            <a:srgbClr val="DBE1F2"/>
          </a:solidFill>
          <a:ln>
            <a:solidFill>
              <a:srgbClr val="DB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F3E6B"/>
                </a:solidFill>
                <a:latin typeface="Microsoft JhengHei"/>
              </a:rPr>
              <a:t>目前資料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865376"/>
            <a:ext cx="2697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E2E2E"/>
                </a:solidFill>
                <a:latin typeface="Microsoft JhengHei"/>
              </a:rPr>
              <a:t>users=8 / products=11 / orders=12 / banners=2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395728"/>
            <a:ext cx="1143000" cy="320040"/>
          </a:xfrm>
          <a:prstGeom prst="roundRect">
            <a:avLst/>
          </a:prstGeom>
          <a:solidFill>
            <a:srgbClr val="DBE1F2"/>
          </a:solidFill>
          <a:ln>
            <a:solidFill>
              <a:srgbClr val="DB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F3E6B"/>
                </a:solidFill>
                <a:latin typeface="Microsoft JhengHei"/>
              </a:rPr>
              <a:t>部署型態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77440"/>
            <a:ext cx="2697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E2E2E"/>
                </a:solidFill>
                <a:latin typeface="Microsoft JhengHei"/>
              </a:rPr>
              <a:t>Django 與 Next.js 分開部署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907792"/>
            <a:ext cx="1143000" cy="320040"/>
          </a:xfrm>
          <a:prstGeom prst="roundRect">
            <a:avLst/>
          </a:prstGeom>
          <a:solidFill>
            <a:srgbClr val="DBE1F2"/>
          </a:solidFill>
          <a:ln>
            <a:solidFill>
              <a:srgbClr val="DB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F3E6B"/>
                </a:solidFill>
                <a:latin typeface="Microsoft JhengHei"/>
              </a:rPr>
              <a:t>程式分層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889504"/>
            <a:ext cx="2697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dirty="0">
                <a:solidFill>
                  <a:srgbClr val="2E2E2E"/>
                </a:solidFill>
                <a:latin typeface="Microsoft JhengHei"/>
              </a:rPr>
              <a:t>services / </a:t>
            </a:r>
            <a:r>
              <a:rPr sz="1350" dirty="0" err="1">
                <a:solidFill>
                  <a:srgbClr val="2E2E2E"/>
                </a:solidFill>
                <a:latin typeface="Microsoft JhengHei"/>
              </a:rPr>
              <a:t>api</a:t>
            </a:r>
            <a:r>
              <a:rPr sz="1350" dirty="0">
                <a:solidFill>
                  <a:srgbClr val="2E2E2E"/>
                </a:solidFill>
                <a:latin typeface="Microsoft JhengHei"/>
              </a:rPr>
              <a:t> / frontend </a:t>
            </a:r>
            <a:r>
              <a:rPr sz="1350" dirty="0" err="1">
                <a:solidFill>
                  <a:srgbClr val="2E2E2E"/>
                </a:solidFill>
                <a:latin typeface="Microsoft JhengHei"/>
              </a:rPr>
              <a:t>三層結構</a:t>
            </a:r>
            <a:endParaRPr sz="1350" dirty="0">
              <a:solidFill>
                <a:srgbClr val="2E2E2E"/>
              </a:solidFill>
              <a:latin typeface="Microsoft JhengHei"/>
            </a:endParaRPr>
          </a:p>
        </p:txBody>
      </p:sp>
      <p:pic>
        <p:nvPicPr>
          <p:cNvPr id="16" name="Picture 15" descr="abc-短袖上衣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81144"/>
            <a:ext cx="2011680" cy="1463040"/>
          </a:xfrm>
          <a:prstGeom prst="rect">
            <a:avLst/>
          </a:prstGeom>
        </p:spPr>
      </p:pic>
      <p:pic>
        <p:nvPicPr>
          <p:cNvPr id="17" name="Picture 16" descr="abc-短褲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4581144"/>
            <a:ext cx="2011680" cy="1463040"/>
          </a:xfrm>
          <a:prstGeom prst="rect">
            <a:avLst/>
          </a:prstGeom>
        </p:spPr>
      </p:pic>
      <p:pic>
        <p:nvPicPr>
          <p:cNvPr id="18" name="Picture 17" descr="abc2-長袖上衣(白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581144"/>
            <a:ext cx="2011680" cy="1463040"/>
          </a:xfrm>
          <a:prstGeom prst="rect">
            <a:avLst/>
          </a:prstGeom>
        </p:spPr>
      </p:pic>
      <p:pic>
        <p:nvPicPr>
          <p:cNvPr id="19" name="Picture 18" descr="abc3-NEW FORCE-bann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581144"/>
            <a:ext cx="201168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未來方向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4572000" cy="489204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7" y="1234440"/>
            <a:ext cx="1737360" cy="384048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系統強化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402336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TW" altLang="en-US" dirty="0"/>
              <a:t>擴大自動化測試覆蓋率，補強邊界情境與回歸測試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zh-TW" altLang="en-US" dirty="0"/>
              <a:t>導入前後端整合測試與 </a:t>
            </a:r>
            <a:r>
              <a:rPr lang="en-US" altLang="zh-TW" dirty="0"/>
              <a:t>CI </a:t>
            </a:r>
            <a:r>
              <a:rPr lang="zh-TW" altLang="en-US" dirty="0"/>
              <a:t>自動驗證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zh-TW" altLang="en-US" dirty="0"/>
              <a:t>提升關鍵模組測試覆蓋率並納入部署前檢查</a:t>
            </a:r>
            <a:r>
              <a:rPr sz="1800" dirty="0">
                <a:solidFill>
                  <a:srgbClr val="2E2E2E"/>
                </a:solidFill>
                <a:latin typeface="Microsoft Jheng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051560"/>
            <a:ext cx="4572000" cy="4892040"/>
          </a:xfrm>
          <a:prstGeom prst="roundRect">
            <a:avLst/>
          </a:prstGeom>
          <a:solidFill>
            <a:srgbClr val="FCFCFC"/>
          </a:solidFill>
          <a:ln>
            <a:solidFill>
              <a:srgbClr val="B0B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07607" y="1234440"/>
            <a:ext cx="1737360" cy="384048"/>
          </a:xfrm>
          <a:prstGeom prst="roundRect">
            <a:avLst/>
          </a:prstGeom>
          <a:solidFill>
            <a:srgbClr val="6675A3"/>
          </a:solidFill>
          <a:ln>
            <a:solidFill>
              <a:srgbClr val="66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營運延伸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1755648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E2E2E"/>
                </a:solidFill>
                <a:latin typeface="Microsoft JhengHei"/>
              </a:rPr>
              <a:t>加強權限控管、審計記錄與敏感設定管理，貼近正式環境需求。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E2E2E"/>
                </a:solidFill>
                <a:latin typeface="Microsoft JhengHei"/>
              </a:rPr>
              <a:t>補上更多資料分析，例如熱門商品、回購率與內容互動指標。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E2E2E"/>
                </a:solidFill>
                <a:latin typeface="Microsoft JhengHei"/>
              </a:rPr>
              <a:t>未來可擴充優惠券、推薦系統與多種付款配送方案。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13232"/>
            <a:ext cx="11064240" cy="27432"/>
          </a:xfrm>
          <a:prstGeom prst="rect">
            <a:avLst/>
          </a:prstGeom>
          <a:solidFill>
            <a:srgbClr val="AF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2E2E"/>
                </a:solidFill>
                <a:latin typeface="Microsoft JhengHei"/>
              </a:rPr>
              <a:t>參考文獻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950976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2E2E2E"/>
                </a:solidFill>
                <a:latin typeface="Microsoft JhengHei"/>
              </a:rPr>
              <a:t>Django </a:t>
            </a:r>
            <a:r>
              <a:rPr sz="2000" dirty="0" err="1">
                <a:solidFill>
                  <a:srgbClr val="2E2E2E"/>
                </a:solidFill>
                <a:latin typeface="Microsoft JhengHei"/>
              </a:rPr>
              <a:t>官方文件：https</a:t>
            </a:r>
            <a:r>
              <a:rPr sz="2000" dirty="0">
                <a:solidFill>
                  <a:srgbClr val="2E2E2E"/>
                </a:solidFill>
                <a:latin typeface="Microsoft JhengHei"/>
              </a:rPr>
              <a:t>://docs.djangoproject.com/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2E2E2E"/>
                </a:solidFill>
                <a:latin typeface="Microsoft JhengHei"/>
              </a:rPr>
              <a:t>Next.js </a:t>
            </a:r>
            <a:r>
              <a:rPr sz="2000" dirty="0" err="1">
                <a:solidFill>
                  <a:srgbClr val="2E2E2E"/>
                </a:solidFill>
                <a:latin typeface="Microsoft JhengHei"/>
              </a:rPr>
              <a:t>官方文件：https</a:t>
            </a:r>
            <a:r>
              <a:rPr sz="2000" dirty="0">
                <a:solidFill>
                  <a:srgbClr val="2E2E2E"/>
                </a:solidFill>
                <a:latin typeface="Microsoft JhengHei"/>
              </a:rPr>
              <a:t>://nextjs.org/docs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2E2E2E"/>
                </a:solidFill>
                <a:latin typeface="Microsoft JhengHei"/>
              </a:rPr>
              <a:t>Render </a:t>
            </a:r>
            <a:r>
              <a:rPr sz="2000" dirty="0" err="1">
                <a:solidFill>
                  <a:srgbClr val="2E2E2E"/>
                </a:solidFill>
                <a:latin typeface="Microsoft JhengHei"/>
              </a:rPr>
              <a:t>官方文件：https</a:t>
            </a:r>
            <a:r>
              <a:rPr sz="2000" dirty="0">
                <a:solidFill>
                  <a:srgbClr val="2E2E2E"/>
                </a:solidFill>
                <a:latin typeface="Microsoft JhengHei"/>
              </a:rPr>
              <a:t>://render.com/docs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2E2E2E"/>
                </a:solidFill>
                <a:latin typeface="Microsoft JhengHei"/>
              </a:rPr>
              <a:t>Aiven for MySQL </a:t>
            </a:r>
            <a:r>
              <a:rPr sz="2000" dirty="0" err="1">
                <a:solidFill>
                  <a:srgbClr val="2E2E2E"/>
                </a:solidFill>
                <a:latin typeface="Microsoft JhengHei"/>
              </a:rPr>
              <a:t>文件：https</a:t>
            </a:r>
            <a:r>
              <a:rPr sz="2000" dirty="0">
                <a:solidFill>
                  <a:srgbClr val="2E2E2E"/>
                </a:solidFill>
                <a:latin typeface="Microsoft JhengHei"/>
              </a:rPr>
              <a:t>://aiven.io/docs</a:t>
            </a:r>
          </a:p>
          <a:p>
            <a:pPr>
              <a:spcAft>
                <a:spcPts val="1000"/>
              </a:spcAft>
            </a:pPr>
            <a:r>
              <a:rPr sz="2000" dirty="0" err="1">
                <a:solidFill>
                  <a:srgbClr val="2E2E2E"/>
                </a:solidFill>
                <a:latin typeface="Microsoft JhengHei"/>
              </a:rPr>
              <a:t>NewebPay</a:t>
            </a:r>
            <a:r>
              <a:rPr sz="2000" dirty="0">
                <a:solidFill>
                  <a:srgbClr val="2E2E2E"/>
                </a:solidFill>
                <a:latin typeface="Microsoft JhengHei"/>
              </a:rPr>
              <a:t> </a:t>
            </a:r>
            <a:r>
              <a:rPr sz="2000" dirty="0" err="1">
                <a:solidFill>
                  <a:srgbClr val="2E2E2E"/>
                </a:solidFill>
                <a:latin typeface="Microsoft JhengHei"/>
              </a:rPr>
              <a:t>技術文件與串接規格</a:t>
            </a:r>
            <a:endParaRPr sz="2000" dirty="0">
              <a:solidFill>
                <a:srgbClr val="2E2E2E"/>
              </a:solidFill>
              <a:latin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74920" y="6400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E6E6E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563</Words>
  <Application>Microsoft Office PowerPoint</Application>
  <PresentationFormat>寬螢幕</PresentationFormat>
  <Paragraphs>185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凱鈞 楊</cp:lastModifiedBy>
  <cp:revision>6</cp:revision>
  <dcterms:created xsi:type="dcterms:W3CDTF">2013-01-27T09:14:16Z</dcterms:created>
  <dcterms:modified xsi:type="dcterms:W3CDTF">2026-06-09T11:18:53Z</dcterms:modified>
  <cp:category/>
</cp:coreProperties>
</file>